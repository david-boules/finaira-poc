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c05132955e4db2" /><Relationship Type="http://schemas.openxmlformats.org/officeDocument/2006/relationships/extended-properties" Target="/docProps/app.xml" Id="R6eea7cb821a74a8b" /><Relationship Type="http://schemas.openxmlformats.org/officeDocument/2006/relationships/officeDocument" Target="/ppt/presentation.xml" Id="R3ebb5dcec8e54c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a8005a3e734f93"/>
  </p:sldMasterIdLst>
  <p:notesMasterIdLst>
    <p:notesMasterId xmlns:r="http://schemas.openxmlformats.org/officeDocument/2006/relationships" r:id="R59d59c4085f447c3"/>
  </p:notesMasterIdLst>
  <p:sldIdLst>
    <p:sldId xmlns:r="http://schemas.openxmlformats.org/officeDocument/2006/relationships" id="256" r:id="Re02de03e399f4b7c"/>
    <p:sldId xmlns:r="http://schemas.openxmlformats.org/officeDocument/2006/relationships" id="257" r:id="Ra21b35772bab46cf"/>
    <p:sldId xmlns:r="http://schemas.openxmlformats.org/officeDocument/2006/relationships" id="258" r:id="R42c87066938f4ec1"/>
    <p:sldId xmlns:r="http://schemas.openxmlformats.org/officeDocument/2006/relationships" id="259" r:id="R8aa5d221122e4dde"/>
    <p:sldId xmlns:r="http://schemas.openxmlformats.org/officeDocument/2006/relationships" id="260" r:id="Re60a8a7610f64d3a"/>
    <p:sldId xmlns:r="http://schemas.openxmlformats.org/officeDocument/2006/relationships" id="261" r:id="R278ab1af59594361"/>
    <p:sldId xmlns:r="http://schemas.openxmlformats.org/officeDocument/2006/relationships" id="262" r:id="Rf1e274ece48c4032"/>
    <p:sldId xmlns:r="http://schemas.openxmlformats.org/officeDocument/2006/relationships" id="263" r:id="R0cda230c9763497f"/>
    <p:sldId xmlns:r="http://schemas.openxmlformats.org/officeDocument/2006/relationships" id="264" r:id="R1409322f012b45b1"/>
    <p:sldId xmlns:r="http://schemas.openxmlformats.org/officeDocument/2006/relationships" id="265" r:id="Rbb3715e0f9ca4ac8"/>
    <p:sldId xmlns:r="http://schemas.openxmlformats.org/officeDocument/2006/relationships" id="266" r:id="R71fa04c202e649e4"/>
    <p:sldId xmlns:r="http://schemas.openxmlformats.org/officeDocument/2006/relationships" id="267" r:id="Rdc3070c5287b4cc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b9914b898e43ce" /><Relationship Type="http://schemas.openxmlformats.org/officeDocument/2006/relationships/slideMaster" Target="/ppt/slideMasters/slideMaster1.xml" Id="R2ba8005a3e734f93" /><Relationship Type="http://schemas.openxmlformats.org/officeDocument/2006/relationships/notesMaster" Target="/ppt/notesMasters/notesMaster1.xml" Id="R59d59c4085f447c3" /><Relationship Type="http://schemas.openxmlformats.org/officeDocument/2006/relationships/presProps" Target="/ppt/presProps.xml" Id="R2b33f6a7ccb744c2" /><Relationship Type="http://schemas.openxmlformats.org/officeDocument/2006/relationships/tableStyles" Target="/ppt/tableStyles.xml" Id="Ra8a06eb6c3994d46" /><Relationship Type="http://schemas.openxmlformats.org/officeDocument/2006/relationships/slide" Target="/ppt/slides/slide1.xml" Id="Re02de03e399f4b7c" /><Relationship Type="http://schemas.openxmlformats.org/officeDocument/2006/relationships/slide" Target="/ppt/slides/slide2.xml" Id="Ra21b35772bab46cf" /><Relationship Type="http://schemas.openxmlformats.org/officeDocument/2006/relationships/slide" Target="/ppt/slides/slide3.xml" Id="R42c87066938f4ec1" /><Relationship Type="http://schemas.openxmlformats.org/officeDocument/2006/relationships/slide" Target="/ppt/slides/slide4.xml" Id="R8aa5d221122e4dde" /><Relationship Type="http://schemas.openxmlformats.org/officeDocument/2006/relationships/slide" Target="/ppt/slides/slide5.xml" Id="Re60a8a7610f64d3a" /><Relationship Type="http://schemas.openxmlformats.org/officeDocument/2006/relationships/slide" Target="/ppt/slides/slide6.xml" Id="R278ab1af59594361" /><Relationship Type="http://schemas.openxmlformats.org/officeDocument/2006/relationships/slide" Target="/ppt/slides/slide7.xml" Id="Rf1e274ece48c4032" /><Relationship Type="http://schemas.openxmlformats.org/officeDocument/2006/relationships/slide" Target="/ppt/slides/slide8.xml" Id="R0cda230c9763497f" /><Relationship Type="http://schemas.openxmlformats.org/officeDocument/2006/relationships/slide" Target="/ppt/slides/slide9.xml" Id="R1409322f012b45b1" /><Relationship Type="http://schemas.openxmlformats.org/officeDocument/2006/relationships/slide" Target="/ppt/slides/slide10.xml" Id="Rbb3715e0f9ca4ac8" /><Relationship Type="http://schemas.openxmlformats.org/officeDocument/2006/relationships/slide" Target="/ppt/slides/slide11.xml" Id="R71fa04c202e649e4" /><Relationship Type="http://schemas.openxmlformats.org/officeDocument/2006/relationships/slide" Target="/ppt/slides/slide12.xml" Id="Rdc3070c5287b4c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6084d0959a41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e6db2d2d9848a0" /><Relationship Type="http://schemas.openxmlformats.org/officeDocument/2006/relationships/notesMaster" Target="/ppt/notesMasters/notesMaster1.xml" Id="R9bcbc74f3fcc4c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e7e2b8196f4b56" /><Relationship Type="http://schemas.openxmlformats.org/officeDocument/2006/relationships/notesMaster" Target="/ppt/notesMasters/notesMaster1.xml" Id="R84ef2c861ee34e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2f9bcb5d4344d9" /><Relationship Type="http://schemas.openxmlformats.org/officeDocument/2006/relationships/notesMaster" Target="/ppt/notesMasters/notesMaster1.xml" Id="Re9f1367918484b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bb6b14229e42f6" /><Relationship Type="http://schemas.openxmlformats.org/officeDocument/2006/relationships/notesMaster" Target="/ppt/notesMasters/notesMaster1.xml" Id="R7616edcdaa114f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ddadafe7fc4710" /><Relationship Type="http://schemas.openxmlformats.org/officeDocument/2006/relationships/notesMaster" Target="/ppt/notesMasters/notesMaster1.xml" Id="R1192af02f8a34c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8071e85e174b72" /><Relationship Type="http://schemas.openxmlformats.org/officeDocument/2006/relationships/notesMaster" Target="/ppt/notesMasters/notesMaster1.xml" Id="Rabade8be089a4d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07f7c0ea9641c6" /><Relationship Type="http://schemas.openxmlformats.org/officeDocument/2006/relationships/notesMaster" Target="/ppt/notesMasters/notesMaster1.xml" Id="Rd15c0f14b5744b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5182dcc0ac45b7" /><Relationship Type="http://schemas.openxmlformats.org/officeDocument/2006/relationships/notesMaster" Target="/ppt/notesMasters/notesMaster1.xml" Id="Rbdc00120cadb43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36f6a765a044a0" /><Relationship Type="http://schemas.openxmlformats.org/officeDocument/2006/relationships/notesMaster" Target="/ppt/notesMasters/notesMaster1.xml" Id="R596f49871f0344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1ee2b337c34efc" /><Relationship Type="http://schemas.openxmlformats.org/officeDocument/2006/relationships/notesMaster" Target="/ppt/notesMasters/notesMaster1.xml" Id="Ra6c67e5a567c41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84a3757e8e4a73" /><Relationship Type="http://schemas.openxmlformats.org/officeDocument/2006/relationships/notesMaster" Target="/ppt/notesMasters/notesMaster1.xml" Id="Rc9a408f6c1f640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3aceb12e504be1" /><Relationship Type="http://schemas.openxmlformats.org/officeDocument/2006/relationships/notesMaster" Target="/ppt/notesMasters/notesMaster1.xml" Id="Rcdd8797d213549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4949b3cc7348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3f672c2d6e4fcf" /><Relationship Type="http://schemas.openxmlformats.org/officeDocument/2006/relationships/slideLayout" Target="/ppt/slideLayouts/slideLayout1.xml" Id="R0c7015d80f3444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7015d80f3444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8af133b98433f" /><Relationship Type="http://schemas.openxmlformats.org/officeDocument/2006/relationships/notesSlide" Target="/ppt/notesSlides/notesSlide1.xml" Id="Rcdf9ee853f5c4a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7ea55a657481e" /><Relationship Type="http://schemas.openxmlformats.org/officeDocument/2006/relationships/notesSlide" Target="/ppt/notesSlides/notesSlide2.xml" Id="Rffe8bcd8e34e44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eda77f17c43bd" /><Relationship Type="http://schemas.openxmlformats.org/officeDocument/2006/relationships/notesSlide" Target="/ppt/notesSlides/notesSlide3.xml" Id="R0e276b998b714d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a48b119b54a1a" /><Relationship Type="http://schemas.openxmlformats.org/officeDocument/2006/relationships/notesSlide" Target="/ppt/notesSlides/notesSlide4.xml" Id="Rc65695a75d4a45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d5094af7e4fbc" /><Relationship Type="http://schemas.openxmlformats.org/officeDocument/2006/relationships/chart" Target="/ppt/slides/charts/chart1.xml" Id="R34f0843c8fc34c05" /><Relationship Type="http://schemas.openxmlformats.org/officeDocument/2006/relationships/notesSlide" Target="/ppt/notesSlides/notesSlide5.xml" Id="R1cc07a39385e48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1d9b49a1b4732" /><Relationship Type="http://schemas.openxmlformats.org/officeDocument/2006/relationships/notesSlide" Target="/ppt/notesSlides/notesSlide6.xml" Id="Rb64b2019be5744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4db4674e6422c" /><Relationship Type="http://schemas.openxmlformats.org/officeDocument/2006/relationships/notesSlide" Target="/ppt/notesSlides/notesSlide7.xml" Id="R21363942288048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c5a8389244a02" /><Relationship Type="http://schemas.openxmlformats.org/officeDocument/2006/relationships/notesSlide" Target="/ppt/notesSlides/notesSlide8.xml" Id="R693778a7a4894d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098709fc34434" /><Relationship Type="http://schemas.openxmlformats.org/officeDocument/2006/relationships/notesSlide" Target="/ppt/notesSlides/notesSlide9.xml" Id="Rdbdd3c0f8e6b44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77172c55f4a9b" /><Relationship Type="http://schemas.openxmlformats.org/officeDocument/2006/relationships/notesSlide" Target="/ppt/notesSlides/notesSlide10.xml" Id="Racc0e68eafb646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82532f4574eb2" /><Relationship Type="http://schemas.openxmlformats.org/officeDocument/2006/relationships/notesSlide" Target="/ppt/notesSlides/notesSlide11.xml" Id="Rf80cd22fb9fd4b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caf8b22f34f92" /><Relationship Type="http://schemas.openxmlformats.org/officeDocument/2006/relationships/notesSlide" Target="/ppt/notesSlides/notesSlide12.xml" Id="Rbfc7c3f03d954180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Projected cash</c:v>
          </c:tx>
          <c:spPr>
            <a:solidFill xmlns:a="http://schemas.openxmlformats.org/drawingml/2006/main">
              <a:srgbClr val="007E78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Today</c:v>
              </c:pt>
              <c:pt idx="1">
                <c:v>30d</c:v>
              </c:pt>
              <c:pt idx="2">
                <c:v>60d</c:v>
              </c:pt>
              <c:pt idx="3">
                <c:v>90d</c:v>
              </c:pt>
            </c:strLit>
          </c:cat>
          <c:val>
            <c:numLit>
              <c:formatCode>General</c:formatCode>
              <c:ptCount val="4"/>
              <c:pt idx="0">
                <c:v>842.6</c:v>
              </c:pt>
              <c:pt idx="1">
                <c:v>833</c:v>
              </c:pt>
              <c:pt idx="2">
                <c:v>633.9</c:v>
              </c:pt>
              <c:pt idx="3">
                <c:v>628.4</c:v>
              </c:pt>
            </c:numLit>
          </c:val>
          <c:smooth val="0"/>
        </c:ser>
        <c:ser>
          <c:idx val="1"/>
          <c:order val="1"/>
          <c:tx>
            <c:v>Minimum reserve</c:v>
          </c:tx>
          <c:spPr>
            <a:solidFill xmlns:a="http://schemas.openxmlformats.org/drawingml/2006/main">
              <a:srgbClr val="A12A21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Today</c:v>
              </c:pt>
              <c:pt idx="1">
                <c:v>30d</c:v>
              </c:pt>
              <c:pt idx="2">
                <c:v>60d</c:v>
              </c:pt>
              <c:pt idx="3">
                <c:v>90d</c:v>
              </c:pt>
            </c:strLit>
          </c:cat>
          <c:val>
            <c:numLit>
              <c:formatCode>General</c:formatCode>
              <c:ptCount val="4"/>
              <c:pt idx="0">
                <c:v>300</c:v>
              </c:pt>
              <c:pt idx="1">
                <c:v>300</c:v>
              </c:pt>
              <c:pt idx="2">
                <c:v>300</c:v>
              </c:pt>
              <c:pt idx="3">
                <c:v>300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9D0D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BD2FA1-B266-46F1-9F95-324C6F92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E78"/>
                </a:solidFill>
              </a:defRPr>
            </a:pPr>
            <a:r>
              <a:rPr sz="1650" b="1">
                <a:solidFill>
                  <a:srgbClr val="007E78"/>
                </a:solidFill>
              </a:rPr>
              <a:t>Corporate Treasury Advisor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F3EFF-977D-413B-917D-8E431BCE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8953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8111F"/>
                </a:solidFill>
              </a:defRPr>
            </a:pPr>
            <a:r>
              <a:rPr sz="4350" b="1">
                <a:solidFill>
                  <a:srgbClr val="08111F"/>
                </a:solidFill>
              </a:rPr>
              <a:t>An agentic AI system for liquidity decisions that humans still approve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7A8F9-89BB-4409-B6E5-CBBAC9BA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6170"/>
                </a:solidFill>
              </a:defRPr>
            </a:pPr>
            <a:r>
              <a:rPr sz="1650" b="0">
                <a:solidFill>
                  <a:srgbClr val="556170"/>
                </a:solidFill>
              </a:rPr>
              <a:t>Competition draft | Synthetic Nike case study | Local Streamlit proof of 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836EF-F888-4F51-B661-2F290EF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342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7E78"/>
                </a:solidFill>
              </a:defRPr>
            </a:pPr>
            <a:r>
              <a:rPr sz="1875" b="1">
                <a:solidFill>
                  <a:srgbClr val="007E78"/>
                </a:solidFill>
              </a:rPr>
              <a:t>Agents coordinate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A6AAE-5500-49EF-8197-F0895ACB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86300"/>
            <a:ext cx="342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111F"/>
                </a:solidFill>
              </a:defRPr>
            </a:pPr>
            <a:r>
              <a:rPr sz="1875" b="1">
                <a:solidFill>
                  <a:srgbClr val="08111F"/>
                </a:solidFill>
              </a:rPr>
              <a:t>Tools calculate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C6ACC-04C3-4263-96B3-063F69E8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86300"/>
            <a:ext cx="342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7791F"/>
                </a:solidFill>
              </a:defRPr>
            </a:pPr>
            <a:r>
              <a:rPr sz="1875" b="1">
                <a:solidFill>
                  <a:srgbClr val="B7791F"/>
                </a:solidFill>
              </a:rPr>
              <a:t>Humans approve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D6B07-B022-41A8-B788-221EC757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Synthetic / illustrative data only. Not actual Nike financial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C2CF4-65B5-4E56-A14E-30B346D2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474258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9DC490-07C6-4C31-952B-2DA0DCAE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170"/>
                </a:solidFill>
              </a:defRPr>
            </a:pPr>
            <a:r>
              <a:rPr sz="975" b="1">
                <a:solidFill>
                  <a:srgbClr val="556170"/>
                </a:solidFill>
              </a:rPr>
              <a:t>Agentic AI Treasury Advisor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1EEB2-4009-420B-835C-4254F282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111F"/>
                </a:solidFill>
              </a:defRPr>
            </a:pPr>
            <a:r>
              <a:rPr sz="2625" b="1">
                <a:solidFill>
                  <a:srgbClr val="08111F"/>
                </a:solidFill>
              </a:rPr>
              <a:t>Treasury decisions are high impact, but the workflow is fragmented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6B42E-EE86-492D-A6DC-DE803E93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C05D5-B221-466E-8FEA-B3C8B913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6170"/>
                </a:solidFill>
              </a:defRPr>
            </a:pPr>
            <a:r>
              <a:rPr sz="1800" b="0">
                <a:solidFill>
                  <a:srgbClr val="556170"/>
                </a:solidFill>
              </a:rPr>
              <a:t>Corporate treasurers must protect liquidity, deploy idle cash, and respond to shocks. The inputs live in different places, move at different speeds, and carry different risk.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A1DA4-CFE2-4706-A287-FB6F18D3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32766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E42E5-49B8-4130-8E9F-82428459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111F"/>
                </a:solidFill>
              </a:defRPr>
            </a:pPr>
            <a:r>
              <a:rPr sz="1800" b="1">
                <a:solidFill>
                  <a:srgbClr val="08111F"/>
                </a:solidFill>
              </a:rPr>
              <a:t>Internal finance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BD1CC-115E-47F7-920A-6861A634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DE3E9-5E34-4456-982C-F86B2B3A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111F"/>
                </a:solidFill>
              </a:defRPr>
            </a:pPr>
            <a:r>
              <a:rPr sz="1350" b="0">
                <a:solidFill>
                  <a:srgbClr val="08111F"/>
                </a:solidFill>
              </a:rPr>
              <a:t>Bank balances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D80B1-3045-4AF0-BEC0-919F17BA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BAE25-6AD5-4CC1-ABFA-5C08F2F1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111F"/>
                </a:solidFill>
              </a:defRPr>
            </a:pPr>
            <a:r>
              <a:rPr sz="1350" b="0">
                <a:solidFill>
                  <a:srgbClr val="08111F"/>
                </a:solidFill>
              </a:rPr>
              <a:t>AR/AP timing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3A031-961E-4E5E-9834-D2FF3761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6C5E1-21C5-4A77-9D95-45D9804D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111F"/>
                </a:solidFill>
              </a:defRPr>
            </a:pPr>
            <a:r>
              <a:rPr sz="1350" b="0">
                <a:solidFill>
                  <a:srgbClr val="08111F"/>
                </a:solidFill>
              </a:rPr>
              <a:t>Payroll, debt service, capex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6004FB-7CE4-4117-879E-B688FFEC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00300"/>
            <a:ext cx="32766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EE2CA5-68D3-4023-8DF3-09BCCE3F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6700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111F"/>
                </a:solidFill>
              </a:defRPr>
            </a:pPr>
            <a:r>
              <a:rPr sz="1800" b="1">
                <a:solidFill>
                  <a:srgbClr val="08111F"/>
                </a:solidFill>
              </a:rPr>
              <a:t>Market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765A03-084A-4618-82E1-D641173B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38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96951D-F8FC-4F29-B810-D65920AA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623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111F"/>
                </a:solidFill>
              </a:defRPr>
            </a:pPr>
            <a:r>
              <a:rPr sz="1350" b="0">
                <a:solidFill>
                  <a:srgbClr val="08111F"/>
                </a:solidFill>
              </a:rPr>
              <a:t>Rates and yields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8D378B-8EA3-487A-B2AC-28657775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F62A81-5BBD-447B-A742-13B82FD4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0045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111F"/>
                </a:solidFill>
              </a:defRPr>
            </a:pPr>
            <a:r>
              <a:rPr sz="1350" b="0">
                <a:solidFill>
                  <a:srgbClr val="08111F"/>
                </a:solidFill>
              </a:rPr>
              <a:t>FX movements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7FA313-7C4A-4B5D-896A-11EDD177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14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DA94A6-4F64-4BDF-8D48-F2C1E38F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386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111F"/>
                </a:solidFill>
              </a:defRPr>
            </a:pPr>
            <a:r>
              <a:rPr sz="1350" b="0">
                <a:solidFill>
                  <a:srgbClr val="08111F"/>
                </a:solidFill>
              </a:rPr>
              <a:t>Liquidity conditions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ADAE9D-8C66-4488-AADF-8FDA3BF4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32766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351AF9-9632-480B-B4A4-2FB64536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6700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111F"/>
                </a:solidFill>
              </a:defRPr>
            </a:pPr>
            <a:r>
              <a:rPr sz="1800" b="1">
                <a:solidFill>
                  <a:srgbClr val="08111F"/>
                </a:solidFill>
              </a:rPr>
              <a:t>Governance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B2DA83-EC4B-4B7A-80A9-048C23B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38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8F6954-5983-4220-922F-1FC89884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623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111F"/>
                </a:solidFill>
              </a:defRPr>
            </a:pPr>
            <a:r>
              <a:rPr sz="1350" b="0">
                <a:solidFill>
                  <a:srgbClr val="08111F"/>
                </a:solidFill>
              </a:rPr>
              <a:t>Treasury policy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155588-D721-4C99-99CF-F28A4F36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6DA261-FF5D-4D24-9159-F3B284D9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0045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111F"/>
                </a:solidFill>
              </a:defRPr>
            </a:pPr>
            <a:r>
              <a:rPr sz="1350" b="0">
                <a:solidFill>
                  <a:srgbClr val="08111F"/>
                </a:solidFill>
              </a:rPr>
              <a:t>Approval authority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95FABD-C22E-4CB1-9D41-BD779867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14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6103BE-7D68-4A1B-95B3-DEE0E079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386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111F"/>
                </a:solidFill>
              </a:defRPr>
            </a:pPr>
            <a:r>
              <a:rPr sz="1350" b="0">
                <a:solidFill>
                  <a:srgbClr val="08111F"/>
                </a:solidFill>
              </a:rPr>
              <a:t>Audit and traceability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29E747-A96C-4520-AE61-85EC9D04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9590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49A2F2-7448-47D4-B280-11DCC9AC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864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Our thesis: the winning system is not a chatbot. It is a controlled decision workflow with agents, deterministic tools, policy rules, and human approval.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09EE93-AA07-46D9-BA0C-F60E64D7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Synthetic / illustrative data only. Not actual Nike financial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72DB62-D3D1-428A-8820-E0B6556A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45355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AF1B6D-7B6E-4972-B148-5CC66388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170"/>
                </a:solidFill>
              </a:defRPr>
            </a:pPr>
            <a:r>
              <a:rPr sz="975" b="1">
                <a:solidFill>
                  <a:srgbClr val="556170"/>
                </a:solidFill>
              </a:rPr>
              <a:t>Agentic AI Treasury Advisor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2099D-9684-4CEA-8324-89F47EE0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111F"/>
                </a:solidFill>
              </a:defRPr>
            </a:pPr>
            <a:r>
              <a:rPr sz="2625" b="1">
                <a:solidFill>
                  <a:srgbClr val="08111F"/>
                </a:solidFill>
              </a:rPr>
              <a:t>The product: a controlled agentic advisor for corporate treasury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B2FB8-3405-4EC4-950F-1514051E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55435-A2E0-4CFA-8D8B-D32555DA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6170"/>
                </a:solidFill>
              </a:defRPr>
            </a:pPr>
            <a:r>
              <a:rPr sz="1650" b="0">
                <a:solidFill>
                  <a:srgbClr val="556170"/>
                </a:solidFill>
              </a:rPr>
              <a:t>Primary user: Corporate Treasurer. Secondary users: treasury analyst, CFO, auditor.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37D79-9174-4191-810E-F790C35F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571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49EFC-7864-4A98-B645-FAFEE0A7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7E78"/>
                </a:solidFill>
              </a:defRPr>
            </a:pPr>
            <a:r>
              <a:rPr sz="3300" b="1">
                <a:solidFill>
                  <a:srgbClr val="007E78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A67D0-A4B1-438B-84C1-76F2323D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111F"/>
                </a:solidFill>
              </a:defRPr>
            </a:pPr>
            <a:r>
              <a:rPr sz="1800" b="1">
                <a:solidFill>
                  <a:srgbClr val="08111F"/>
                </a:solidFill>
              </a:rPr>
              <a:t>Load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67886-ED83-4164-B4C1-877DC25B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170"/>
                </a:solidFill>
              </a:defRPr>
            </a:pPr>
            <a:r>
              <a:rPr sz="1350" b="0">
                <a:solidFill>
                  <a:srgbClr val="556170"/>
                </a:solidFill>
              </a:rPr>
              <a:t>Synthetic internal treasury data, company goals, and policy 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54A66-F9E1-4006-A171-5266FD37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66950"/>
            <a:ext cx="2571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2B53F-D201-48C3-BEE2-778B0049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7E78"/>
                </a:solidFill>
              </a:defRPr>
            </a:pPr>
            <a:r>
              <a:rPr sz="3300" b="1">
                <a:solidFill>
                  <a:srgbClr val="007E78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9236C-513D-4545-A4AA-0A9D64BD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05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111F"/>
                </a:solidFill>
              </a:defRPr>
            </a:pPr>
            <a:r>
              <a:rPr sz="1800" b="1">
                <a:solidFill>
                  <a:srgbClr val="08111F"/>
                </a:solidFill>
              </a:rPr>
              <a:t>Forecast cash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9F54B-B4AD-425D-8777-06329AF6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433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170"/>
                </a:solidFill>
              </a:defRPr>
            </a:pPr>
            <a:r>
              <a:rPr sz="1350" b="0">
                <a:solidFill>
                  <a:srgbClr val="556170"/>
                </a:solidFill>
              </a:rPr>
              <a:t>30/60/90-day projections, uncertainty bands, liquidity diagnosis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498E85-277E-426A-B8D7-1F7F881E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66950"/>
            <a:ext cx="2571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4C0F80-BC27-41AA-9469-747111EB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7E78"/>
                </a:solidFill>
              </a:defRPr>
            </a:pPr>
            <a:r>
              <a:rPr sz="3300" b="1">
                <a:solidFill>
                  <a:srgbClr val="007E78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F7EFA-FD11-4D25-860C-C9C083BF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111F"/>
                </a:solidFill>
              </a:defRPr>
            </a:pPr>
            <a:r>
              <a:rPr sz="1800" b="1">
                <a:solidFill>
                  <a:srgbClr val="08111F"/>
                </a:solidFill>
              </a:rPr>
              <a:t>Compare 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CA30EF-EFB8-46AA-B914-0734F9C1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433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170"/>
                </a:solidFill>
              </a:defRPr>
            </a:pPr>
            <a:r>
              <a:rPr sz="1350" b="0">
                <a:solidFill>
                  <a:srgbClr val="556170"/>
                </a:solidFill>
              </a:rPr>
              <a:t>Preserve, invest surplus, arrange financing, hedge FX, improve working capital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5E129-95BD-47C3-962C-1323713F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66950"/>
            <a:ext cx="2571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BDEA2F-69D4-41B5-B505-C51FC93B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765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7E78"/>
                </a:solidFill>
              </a:defRPr>
            </a:pPr>
            <a:r>
              <a:rPr sz="3300" b="1">
                <a:solidFill>
                  <a:srgbClr val="007E78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BCED55-D74B-432B-A42C-9932D9C7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05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111F"/>
                </a:solidFill>
              </a:defRPr>
            </a:pPr>
            <a:r>
              <a:rPr sz="1800" b="1">
                <a:solidFill>
                  <a:srgbClr val="08111F"/>
                </a:solidFill>
              </a:rPr>
              <a:t>Enforce controls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E5F098-BEAD-4EF4-AE2E-1C61F02E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433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170"/>
                </a:solidFill>
              </a:defRPr>
            </a:pPr>
            <a:r>
              <a:rPr sz="1350" b="0">
                <a:solidFill>
                  <a:srgbClr val="556170"/>
                </a:solidFill>
              </a:rPr>
              <a:t>Hard policy checks, confidence gate, human approval, audit log</a:t>
            </a:r>
          </a:p>
        </p:txBody>
      </p:sp>
      <p:cxnSp>
        <p:nvCxnSpPr>
          <p:cNvPr id="48" name="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2971800" y="34004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56170"/>
            </a:solidFill>
            <a:prstDash val="solid"/>
            <a:headEnd type="arrow" w="sm" len="sm"/>
          </a:ln>
        </p:spPr>
      </p:cxnSp>
      <p:cxnSp>
        <p:nvCxnSpPr>
          <p:cNvPr id="49" name=""/>
          <p:cNvCxnSpPr>
            <a:stCxn xmlns:a="http://schemas.openxmlformats.org/drawingml/2006/main" id="13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5886450" y="34004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56170"/>
            </a:solidFill>
            <a:prstDash val="solid"/>
            <a:headEnd type="arrow" w="sm" len="sm"/>
          </a:ln>
        </p:spPr>
      </p:cxnSp>
      <p:cxnSp>
        <p:nvCxnSpPr>
          <p:cNvPr id="50" name=""/>
          <p:cNvCxnSpPr>
            <a:stCxn xmlns:a="http://schemas.openxmlformats.org/drawingml/2006/main" id="17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8801100" y="34004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56170"/>
            </a:solidFill>
            <a:prstDash val="solid"/>
            <a:headEnd type="arrow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7F1A66-0911-4D5A-8809-26E06C5A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A7A4B"/>
                </a:solidFill>
              </a:defRPr>
            </a:pPr>
            <a:r>
              <a:rPr sz="1500" b="1">
                <a:solidFill>
                  <a:srgbClr val="2A7A4B"/>
                </a:solidFill>
              </a:rPr>
              <a:t>Autonomous: retrieve, validate, forecast, diagnose, simulate, draft recommendation.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4B936A-854F-43F0-812D-A5F07FFD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81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2A21"/>
                </a:solidFill>
              </a:defRPr>
            </a:pPr>
            <a:r>
              <a:rPr sz="1500" b="1">
                <a:solidFill>
                  <a:srgbClr val="A12A21"/>
                </a:solidFill>
              </a:rPr>
              <a:t>Not autonomous: investment, borrowing, transfers, FX trades, debt changes, payment delays.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20F26E-E26C-408F-BF98-8CC770F5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Synthetic / illustrative data only. Not actual Nike financial data.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FC4B0D-1050-451C-A560-561688B6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517904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A08B87-A158-4B74-AB79-048D779A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170"/>
                </a:solidFill>
              </a:defRPr>
            </a:pPr>
            <a:r>
              <a:rPr sz="975" b="1">
                <a:solidFill>
                  <a:srgbClr val="556170"/>
                </a:solidFill>
              </a:rPr>
              <a:t>Agentic AI Treasury Advisor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5BFDA-7B1F-4660-90E3-584D1E5B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111F"/>
                </a:solidFill>
              </a:defRPr>
            </a:pPr>
            <a:r>
              <a:rPr sz="2625" b="1">
                <a:solidFill>
                  <a:srgbClr val="08111F"/>
                </a:solidFill>
              </a:rPr>
              <a:t>System mechanics: LLM reasoning plus deterministic treasury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B7A31-28A7-41B7-8AD7-FC62D57F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ED3DC-30A7-457B-9F53-72F015BB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B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35A97"/>
                </a:solidFill>
              </a:defRPr>
            </a:pPr>
            <a:r>
              <a:rPr sz="1350" b="1">
                <a:solidFill>
                  <a:srgbClr val="235A97"/>
                </a:solidFill>
              </a:rPr>
              <a:t>Treasurer / CFO</a:t>
            </a:r>
          </a:p>
          <a:p xmlns:a="http://schemas.openxmlformats.org/drawingml/2006/main">
            <a:pPr algn="ctr">
              <a:defRPr sz="1350" b="1">
                <a:solidFill>
                  <a:srgbClr val="235A97"/>
                </a:solidFill>
              </a:defRPr>
            </a:pPr>
            <a:r>
              <a:rPr sz="1350" b="1">
                <a:solidFill>
                  <a:srgbClr val="235A97"/>
                </a:solidFill>
              </a:rPr>
              <a:t>Streamlit UI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6BF1F-4809-4A32-8ABD-2345FF82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571625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111F"/>
                </a:solidFill>
              </a:defRPr>
            </a:pPr>
            <a:r>
              <a:rPr sz="1275" b="1">
                <a:solidFill>
                  <a:srgbClr val="08111F"/>
                </a:solidFill>
              </a:rPr>
              <a:t>Scope gate</a:t>
            </a:r>
          </a:p>
          <a:p xmlns:a="http://schemas.openxmlformats.org/drawingml/2006/main">
            <a:pPr algn="ctr">
              <a:defRPr sz="1275" b="1">
                <a:solidFill>
                  <a:srgbClr val="08111F"/>
                </a:solidFill>
              </a:defRPr>
            </a:pPr>
            <a:r>
              <a:rPr sz="1275" b="1">
                <a:solidFill>
                  <a:srgbClr val="08111F"/>
                </a:solidFill>
              </a:rPr>
              <a:t>RBAC placeholder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1CCC7-84D7-455E-9C9A-39595AED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4780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F2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7E78"/>
                </a:solidFill>
              </a:defRPr>
            </a:pPr>
            <a:r>
              <a:rPr sz="1650" b="1">
                <a:solidFill>
                  <a:srgbClr val="007E78"/>
                </a:solidFill>
              </a:rPr>
              <a:t>Supervisor</a:t>
            </a:r>
          </a:p>
          <a:p xmlns:a="http://schemas.openxmlformats.org/drawingml/2006/main">
            <a:pPr algn="ctr">
              <a:defRPr sz="1650" b="1">
                <a:solidFill>
                  <a:srgbClr val="007E78"/>
                </a:solidFill>
              </a:defRPr>
            </a:pPr>
            <a:r>
              <a:rPr sz="1650" b="1">
                <a:solidFill>
                  <a:srgbClr val="007E78"/>
                </a:solidFill>
              </a:rPr>
              <a:t>orchestrator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EE292-50CE-43DF-8BB6-4E875D70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1695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111F"/>
                </a:solidFill>
              </a:defRPr>
            </a:pPr>
            <a:r>
              <a:rPr sz="1275" b="1">
                <a:solidFill>
                  <a:srgbClr val="08111F"/>
                </a:solidFill>
              </a:rPr>
              <a:t>Data quality</a:t>
            </a:r>
          </a:p>
          <a:p xmlns:a="http://schemas.openxmlformats.org/drawingml/2006/main">
            <a:pPr algn="ctr">
              <a:defRPr sz="1275" b="1">
                <a:solidFill>
                  <a:srgbClr val="08111F"/>
                </a:solidFill>
              </a:defRPr>
            </a:pPr>
            <a:r>
              <a:rPr sz="1275" b="1">
                <a:solidFill>
                  <a:srgbClr val="08111F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5CA3D-72B0-4E41-9CF9-DF443874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05150"/>
            <a:ext cx="1695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111F"/>
                </a:solidFill>
              </a:defRPr>
            </a:pPr>
            <a:r>
              <a:rPr sz="1275" b="1">
                <a:solidFill>
                  <a:srgbClr val="08111F"/>
                </a:solidFill>
              </a:rPr>
              <a:t>Forecast</a:t>
            </a:r>
          </a:p>
          <a:p xmlns:a="http://schemas.openxmlformats.org/drawingml/2006/main">
            <a:pPr algn="ctr">
              <a:defRPr sz="1275" b="1">
                <a:solidFill>
                  <a:srgbClr val="08111F"/>
                </a:solidFill>
              </a:defRPr>
            </a:pPr>
            <a:r>
              <a:rPr sz="1275" b="1">
                <a:solidFill>
                  <a:srgbClr val="08111F"/>
                </a:solidFill>
              </a:rPr>
              <a:t>module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6406F-213E-4217-96B2-4DC8B41B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05150"/>
            <a:ext cx="1695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111F"/>
                </a:solidFill>
              </a:defRPr>
            </a:pPr>
            <a:r>
              <a:rPr sz="1275" b="1">
                <a:solidFill>
                  <a:srgbClr val="08111F"/>
                </a:solidFill>
              </a:rPr>
              <a:t>Liquidity</a:t>
            </a:r>
          </a:p>
          <a:p xmlns:a="http://schemas.openxmlformats.org/drawingml/2006/main">
            <a:pPr algn="ctr">
              <a:defRPr sz="1275" b="1">
                <a:solidFill>
                  <a:srgbClr val="08111F"/>
                </a:solidFill>
              </a:defRPr>
            </a:pPr>
            <a:r>
              <a:rPr sz="1275" b="1">
                <a:solidFill>
                  <a:srgbClr val="08111F"/>
                </a:solidFill>
              </a:rPr>
              <a:t>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98504-D406-49C9-8DF6-35A1A0F0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05150"/>
            <a:ext cx="1695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111F"/>
                </a:solidFill>
              </a:defRPr>
            </a:pPr>
            <a:r>
              <a:rPr sz="1275" b="1">
                <a:solidFill>
                  <a:srgbClr val="08111F"/>
                </a:solidFill>
              </a:rPr>
              <a:t>Market</a:t>
            </a:r>
          </a:p>
          <a:p xmlns:a="http://schemas.openxmlformats.org/drawingml/2006/main">
            <a:pPr algn="ctr">
              <a:defRPr sz="1275" b="1">
                <a:solidFill>
                  <a:srgbClr val="08111F"/>
                </a:solidFill>
              </a:defRPr>
            </a:pPr>
            <a:r>
              <a:rPr sz="1275" b="1">
                <a:solidFill>
                  <a:srgbClr val="08111F"/>
                </a:solidFill>
              </a:rPr>
              <a:t>adapter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06C90-908A-4BA4-B37F-EEBA7B33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05150"/>
            <a:ext cx="1695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111F"/>
                </a:solidFill>
              </a:defRPr>
            </a:pPr>
            <a:r>
              <a:rPr sz="1275" b="1">
                <a:solidFill>
                  <a:srgbClr val="08111F"/>
                </a:solidFill>
              </a:rPr>
              <a:t>RAG policy</a:t>
            </a:r>
          </a:p>
          <a:p xmlns:a="http://schemas.openxmlformats.org/drawingml/2006/main">
            <a:pPr algn="ctr">
              <a:defRPr sz="1275" b="1">
                <a:solidFill>
                  <a:srgbClr val="08111F"/>
                </a:solidFill>
              </a:defRPr>
            </a:pPr>
            <a:r>
              <a:rPr sz="1275" b="1">
                <a:solidFill>
                  <a:srgbClr val="08111F"/>
                </a:solidFill>
              </a:rPr>
              <a:t>retrieval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533C1A-667E-4EEA-8B5C-38927454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006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7791F"/>
                </a:solidFill>
              </a:defRPr>
            </a:pPr>
            <a:r>
              <a:rPr sz="1275" b="1">
                <a:solidFill>
                  <a:srgbClr val="B7791F"/>
                </a:solidFill>
              </a:rPr>
              <a:t>Decision engine</a:t>
            </a:r>
          </a:p>
          <a:p xmlns:a="http://schemas.openxmlformats.org/drawingml/2006/main">
            <a:pPr algn="ctr">
              <a:defRPr sz="1275" b="1">
                <a:solidFill>
                  <a:srgbClr val="B7791F"/>
                </a:solidFill>
              </a:defRPr>
            </a:pPr>
            <a:r>
              <a:rPr sz="1275" b="1">
                <a:solidFill>
                  <a:srgbClr val="B7791F"/>
                </a:solidFill>
              </a:rPr>
              <a:t>option comparison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B95407-B85A-4E55-8874-98349055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006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5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12A21"/>
                </a:solidFill>
              </a:defRPr>
            </a:pPr>
            <a:r>
              <a:rPr sz="1275" b="1">
                <a:solidFill>
                  <a:srgbClr val="A12A21"/>
                </a:solidFill>
              </a:rPr>
              <a:t>Policy rules +</a:t>
            </a:r>
          </a:p>
          <a:p xmlns:a="http://schemas.openxmlformats.org/drawingml/2006/main">
            <a:pPr algn="ctr">
              <a:defRPr sz="1275" b="1">
                <a:solidFill>
                  <a:srgbClr val="A12A21"/>
                </a:solidFill>
              </a:defRPr>
            </a:pPr>
            <a:r>
              <a:rPr sz="1275" b="1">
                <a:solidFill>
                  <a:srgbClr val="A12A21"/>
                </a:solidFill>
              </a:rPr>
              <a:t>confidence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127D6-111A-4DCC-AFD3-1B6B7927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006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C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A7A4B"/>
                </a:solidFill>
              </a:defRPr>
            </a:pPr>
            <a:r>
              <a:rPr sz="1275" b="1">
                <a:solidFill>
                  <a:srgbClr val="2A7A4B"/>
                </a:solidFill>
              </a:rPr>
              <a:t>Human approval</a:t>
            </a:r>
          </a:p>
          <a:p xmlns:a="http://schemas.openxmlformats.org/drawingml/2006/main">
            <a:pPr algn="ctr">
              <a:defRPr sz="1275" b="1">
                <a:solidFill>
                  <a:srgbClr val="2A7A4B"/>
                </a:solidFill>
              </a:defRPr>
            </a:pPr>
            <a:r>
              <a:rPr sz="1275" b="1">
                <a:solidFill>
                  <a:srgbClr val="2A7A4B"/>
                </a:solidFill>
              </a:rPr>
              <a:t>and audit log</a:t>
            </a:r>
          </a:p>
        </p:txBody>
      </p:sp>
      <p:cxnSp>
        <p:nvCxnSpPr>
          <p:cNvPr id="44" name=""/>
          <p:cNvCxnSpPr>
            <a:stCxn xmlns:a="http://schemas.openxmlformats.org/drawingml/2006/main" id="5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2495550" y="19240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56170"/>
            </a:solidFill>
            <a:prstDash val="solid"/>
            <a:headEnd type="arrow" w="sm" len="sm"/>
          </a:ln>
        </p:spPr>
      </p:cxnSp>
      <p:cxnSp>
        <p:nvCxnSpPr>
          <p:cNvPr id="45" name=""/>
          <p:cNvCxnSpPr>
            <a:stCxn xmlns:a="http://schemas.openxmlformats.org/drawingml/2006/main" id="6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4838700" y="19240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56170"/>
            </a:solidFill>
            <a:prstDash val="solid"/>
            <a:headEnd type="arrow" w="sm" len="sm"/>
          </a:ln>
        </p:spPr>
      </p:cxnSp>
      <p:cxnSp>
        <p:nvCxnSpPr>
          <p:cNvPr id="46" name=""/>
          <p:cNvCxnSpPr>
            <a:stCxn xmlns:a="http://schemas.openxmlformats.org/drawingml/2006/main" id="7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1971675" y="2400300"/>
            <a:ext cx="4619625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556170"/>
            </a:solidFill>
            <a:prstDash val="solid"/>
            <a:headEnd type="arrow" w="sm" len="sm"/>
          </a:ln>
        </p:spPr>
      </p:cxnSp>
      <p:cxnSp>
        <p:nvCxnSpPr>
          <p:cNvPr id="47" name=""/>
          <p:cNvCxnSpPr>
            <a:stCxn xmlns:a="http://schemas.openxmlformats.org/drawingml/2006/main" id="8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3971925" y="2400300"/>
            <a:ext cx="2619375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556170"/>
            </a:solidFill>
            <a:prstDash val="solid"/>
            <a:headEnd type="arrow" w="sm" len="sm"/>
          </a:ln>
        </p:spPr>
      </p:cxnSp>
      <p:cxnSp>
        <p:nvCxnSpPr>
          <p:cNvPr id="48" name=""/>
          <p:cNvCxnSpPr>
            <a:stCxn xmlns:a="http://schemas.openxmlformats.org/drawingml/2006/main" id="9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5972175" y="2400300"/>
            <a:ext cx="619125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556170"/>
            </a:solidFill>
            <a:prstDash val="solid"/>
            <a:headEnd type="arrow" w="sm" len="sm"/>
          </a:ln>
        </p:spPr>
      </p:cxnSp>
      <p:cxnSp>
        <p:nvCxnSpPr>
          <p:cNvPr id="49" name=""/>
          <p:cNvCxnSpPr>
            <a:stCxn xmlns:a="http://schemas.openxmlformats.org/drawingml/2006/main" id="10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6591300" y="2400300"/>
            <a:ext cx="1381125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556170"/>
            </a:solidFill>
            <a:prstDash val="solid"/>
            <a:headEnd type="arrow" w="sm" len="sm"/>
          </a:ln>
        </p:spPr>
      </p:cxnSp>
      <p:cxnSp>
        <p:nvCxnSpPr>
          <p:cNvPr id="50" name=""/>
          <p:cNvCxnSpPr>
            <a:stCxn xmlns:a="http://schemas.openxmlformats.org/drawingml/2006/main" id="11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6591300" y="2400300"/>
            <a:ext cx="3381375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556170"/>
            </a:solidFill>
            <a:prstDash val="solid"/>
            <a:headEnd type="arrow" w="sm" len="sm"/>
          </a:ln>
        </p:spPr>
      </p:cxnSp>
      <p:cxnSp>
        <p:nvCxnSpPr>
          <p:cNvPr id="51" name=""/>
          <p:cNvCxnSpPr>
            <a:stCxn xmlns:a="http://schemas.openxmlformats.org/drawingml/2006/main" id="12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3476625" y="3829050"/>
            <a:ext cx="2495550" cy="971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556170"/>
            </a:solidFill>
            <a:prstDash val="solid"/>
            <a:headEnd type="arrow" w="sm" len="sm"/>
          </a:ln>
        </p:spPr>
      </p:cxnSp>
      <p:cxnSp>
        <p:nvCxnSpPr>
          <p:cNvPr id="52" name=""/>
          <p:cNvCxnSpPr>
            <a:stCxn xmlns:a="http://schemas.openxmlformats.org/drawingml/2006/main" id="12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3476625" y="3829050"/>
            <a:ext cx="4495800" cy="971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556170"/>
            </a:solidFill>
            <a:prstDash val="solid"/>
            <a:headEnd type="arrow" w="sm" len="sm"/>
          </a:ln>
        </p:spPr>
      </p:cxnSp>
      <p:cxnSp>
        <p:nvCxnSpPr>
          <p:cNvPr id="53" name=""/>
          <p:cNvCxnSpPr>
            <a:stCxn xmlns:a="http://schemas.openxmlformats.org/drawingml/2006/main" id="13" idx="0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6105525" y="3829050"/>
            <a:ext cx="3867150" cy="971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556170"/>
            </a:solidFill>
            <a:prstDash val="solid"/>
            <a:headEnd type="arrow" w="sm" len="sm"/>
          </a:ln>
        </p:spPr>
      </p:cxnSp>
      <p:cxnSp>
        <p:nvCxnSpPr>
          <p:cNvPr id="54" name=""/>
          <p:cNvCxnSpPr>
            <a:stCxn xmlns:a="http://schemas.openxmlformats.org/drawingml/2006/main" id="13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4572000" y="51625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56170"/>
            </a:solidFill>
            <a:prstDash val="solid"/>
            <a:headEnd type="arrow" w="sm" len="sm"/>
          </a:ln>
        </p:spPr>
      </p:cxnSp>
      <p:cxnSp>
        <p:nvCxnSpPr>
          <p:cNvPr id="55" name=""/>
          <p:cNvCxnSpPr>
            <a:stCxn xmlns:a="http://schemas.openxmlformats.org/drawingml/2006/main" id="14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7200900" y="51625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56170"/>
            </a:solidFill>
            <a:prstDash val="solid"/>
            <a:headEnd type="arrow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5BF42C-CBAE-4B22-8570-5627A5D8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11F"/>
                </a:solidFill>
              </a:defRPr>
            </a:pPr>
            <a:r>
              <a:rPr sz="1350" b="1">
                <a:solidFill>
                  <a:srgbClr val="08111F"/>
                </a:solidFill>
              </a:rPr>
              <a:t>Key architecture boundary: the LLM coordinates and explains; pandas/statistical modules calculate; policy-as-code blocks non-compliant action.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7B32F0-D608-4555-B547-998C12FC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Synthetic / illustrative data only. Not actual Nike financial data.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816662-DAB3-4981-A5B3-E279263E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08834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C2A877-B0E3-4A13-850B-3BA41569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170"/>
                </a:solidFill>
              </a:defRPr>
            </a:pPr>
            <a:r>
              <a:rPr sz="975" b="1">
                <a:solidFill>
                  <a:srgbClr val="556170"/>
                </a:solidFill>
              </a:rPr>
              <a:t>Agentic AI Treasury Advisor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F00E3-D41F-4FF1-A22B-0E390879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111F"/>
                </a:solidFill>
              </a:defRPr>
            </a:pPr>
            <a:r>
              <a:rPr sz="2625" b="1">
                <a:solidFill>
                  <a:srgbClr val="08111F"/>
                </a:solidFill>
              </a:rPr>
              <a:t>Demo scenario: healthy surplus becomes a bounded investment recommendation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FDCA8-8B06-4E75-9B4D-31D88DF1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43429-BF19-4BDB-806A-41818E0B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4765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A5ECA-2A52-4AAD-B54B-74FDFBBA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8111F"/>
                </a:solidFill>
              </a:defRPr>
            </a:pPr>
            <a:r>
              <a:rPr sz="3000" b="1">
                <a:solidFill>
                  <a:srgbClr val="08111F"/>
                </a:solidFill>
              </a:rPr>
              <a:t>$842.6M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87FBF-2CC4-4DB9-9253-28AEB83D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Current cash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00C09-08CE-4FD4-9616-4C558B12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Synthetic starting 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B3F6F-0746-4CB9-A8D9-16C3A806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562100"/>
            <a:ext cx="24765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9B2A0-F3CB-423A-A216-B2330BB0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526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7E78"/>
                </a:solidFill>
              </a:defRPr>
            </a:pPr>
            <a:r>
              <a:rPr sz="3000" b="1">
                <a:solidFill>
                  <a:srgbClr val="007E78"/>
                </a:solidFill>
              </a:rPr>
              <a:t>$188.7M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30DE3-BA8A-43DD-B521-4B3D8E34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669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Genuine surplus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26CA5-1003-4654-8612-0AA9BCDD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3365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After reserves and commitments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97637A-B529-4267-9096-B2B41C3D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62100"/>
            <a:ext cx="24765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C7900-BC6D-49B0-BB7F-B9187932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526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B7791F"/>
                </a:solidFill>
              </a:defRPr>
            </a:pPr>
            <a:r>
              <a:rPr sz="3000" b="1">
                <a:solidFill>
                  <a:srgbClr val="B7791F"/>
                </a:solidFill>
              </a:rPr>
              <a:t>$84.9M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FBF27C-FB9A-4F57-8704-F8A1B751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669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Recommended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50A28-353F-4903-AFCE-56471BB2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3365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60-day Treasury bills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BE90B5-59AC-4A09-917D-132BFABC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62100"/>
            <a:ext cx="24765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D31F4F-098F-4579-8F10-C53D5DE7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526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A7A4B"/>
                </a:solidFill>
              </a:defRPr>
            </a:pPr>
            <a:r>
              <a:rPr sz="3000" b="1">
                <a:solidFill>
                  <a:srgbClr val="2A7A4B"/>
                </a:solidFill>
              </a:rPr>
              <a:t>95.5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4E6B38-19D9-4791-BBFE-34E34DD9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669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Confidence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C0B753-A3FC-43C8-8D02-D1F151F3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3365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RECOMMEND</a:t>
            </a:r>
          </a:p>
        </p:txBody>
      </p:sp>
      <p:graphicFrame>
        <p:nvGraphicFramePr>
          <p:cNvPr id="49" name="Chart"/>
          <p:cNvGraphicFramePr/>
          <p:nvPr/>
        </p:nvGraphicFramePr>
        <p:xfrm>
          <a:off xmlns:a="http://schemas.openxmlformats.org/drawingml/2006/main" x="400050" y="3238500"/>
          <a:ext xmlns:a="http://schemas.openxmlformats.org/drawingml/2006/main" cx="55245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f0843c8fc34c05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D15F23-C902-4BEF-A21B-DDD1B17B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57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111F"/>
                </a:solidFill>
              </a:defRPr>
            </a:pPr>
            <a:r>
              <a:rPr sz="1950" b="1">
                <a:solidFill>
                  <a:srgbClr val="08111F"/>
                </a:solidFill>
              </a:rPr>
              <a:t>Why this is safe to show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A0F22A-42FB-41F6-B454-37E1D0AD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29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3769C0-127B-454A-80D6-B2399B03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52850"/>
            <a:ext cx="455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111F"/>
                </a:solidFill>
              </a:defRPr>
            </a:pPr>
            <a:r>
              <a:rPr sz="1350" b="0">
                <a:solidFill>
                  <a:srgbClr val="08111F"/>
                </a:solidFill>
              </a:rPr>
              <a:t>Payroll, debt service, capex, reserve, and buffer are protected first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F22029-9517-4603-AEA7-A01BB791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347498-EE08-4083-91F7-730BBE4B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48150"/>
            <a:ext cx="455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111F"/>
                </a:solidFill>
              </a:defRPr>
            </a:pPr>
            <a:r>
              <a:rPr sz="1350" b="0">
                <a:solidFill>
                  <a:srgbClr val="08111F"/>
                </a:solidFill>
              </a:rPr>
              <a:t>Instrument is on the allowed list and maturity is within 90 days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3E46DB-923F-45E5-8039-6512F1EC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19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2A28ED-119C-4964-B242-59051A1B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43450"/>
            <a:ext cx="455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111F"/>
                </a:solidFill>
              </a:defRPr>
            </a:pPr>
            <a:r>
              <a:rPr sz="1350" b="0">
                <a:solidFill>
                  <a:srgbClr val="08111F"/>
                </a:solidFill>
              </a:rPr>
              <a:t>Human approval is required before any investment execution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096F5E-F54A-4990-B7C8-4AFF8D24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Synthetic / illustrative data only. Not actual Nike financial data.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37C490-B4DA-472C-86BB-BDB1996B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403383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1FC7BA-1D3D-40EF-AF4A-EF63F6BA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170"/>
                </a:solidFill>
              </a:defRPr>
            </a:pPr>
            <a:r>
              <a:rPr sz="975" b="1">
                <a:solidFill>
                  <a:srgbClr val="556170"/>
                </a:solidFill>
              </a:rPr>
              <a:t>Agentic AI Treasury Advisor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A73F1-7CE1-4032-AB0A-3492F523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111F"/>
                </a:solidFill>
              </a:defRPr>
            </a:pPr>
            <a:r>
              <a:rPr sz="2625" b="1">
                <a:solidFill>
                  <a:srgbClr val="08111F"/>
                </a:solidFill>
              </a:rPr>
              <a:t>The POC already proves four judge-visible behaviors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D822D-FED1-4D59-A19C-3905F26F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9B341-A603-4F6B-B056-BB00677F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2133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5177E-EBB5-49F8-B773-63343D08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719BB-0639-4C95-9CC7-54D82CA4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8115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68BFF-5AA4-4B1A-B988-7E4B42B1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954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90d cash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BEE17-67A5-4780-A5C0-66000D74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8115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B520F-FCCE-4278-AB32-2983A35C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954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Surplus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AEDA5-EC0B-487E-8FDF-70662A1A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8115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7F668-2783-45E2-BFB7-C7DD75E2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954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Shortfall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376ED-06C8-453F-8F57-AAE89E9E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81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D017B-77E6-4EC9-AFA1-CF7C80DA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954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Draft 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C0CAA-64DA-4425-89C0-EBC7B262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8115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39632-18D8-4C19-9BC8-06A47597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954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8B5C2B-8FA2-40B0-81C7-102B5B99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2133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0CA5BD-0D41-46A0-A563-CF4014A0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7170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Healthy surplus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5EA5A3-B8B2-49A4-8EA3-CA97779E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257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158EAE-186F-43C4-98AA-FFE24605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71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$628.4M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919A71-1114-4C25-8CDB-B36B16D9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81200"/>
            <a:ext cx="1257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840839-388F-48B6-ACF7-E4F4DF6F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71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$188.7M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907405-977B-447E-84A0-E8BB94E6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81200"/>
            <a:ext cx="1257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BD4B84-D92D-4543-89B8-CC43BD6D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71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$0.0M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2366AD-91CC-4D3D-9AAE-F856AD36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8120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92C704-E6B1-4DDC-B9BD-234AA565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717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Invest $84.9M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264147-0879-4BDB-8BCE-14A423E8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81200"/>
            <a:ext cx="1600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0E6777-3E61-4A9A-BF52-4784E4B4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717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7A4B"/>
                </a:solidFill>
              </a:defRPr>
            </a:pPr>
            <a:r>
              <a:rPr sz="1200" b="1">
                <a:solidFill>
                  <a:srgbClr val="2A7A4B"/>
                </a:solidFill>
              </a:rPr>
              <a:t>RECOMMEND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36C068-786B-46CB-B606-555D382C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2133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27E2C5-CCCC-42AB-B19C-513923C1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3845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Liquidity risk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DAEA80-70B5-4F10-A461-2AB090B4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47950"/>
            <a:ext cx="1257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2602F4-3E44-461F-B464-4C5BE9F3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384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2A21"/>
                </a:solidFill>
              </a:defRPr>
            </a:pPr>
            <a:r>
              <a:rPr sz="1200" b="0">
                <a:solidFill>
                  <a:srgbClr val="A12A21"/>
                </a:solidFill>
              </a:rPr>
              <a:t>-$291.0M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E169D4-757C-4897-A44E-3D8EE347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1257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D1561C-07C5-4277-806E-8ECBE4D1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384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$0.0M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342A85-ACF9-4649-A438-A3C9B2FE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47950"/>
            <a:ext cx="1257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27A22F-B156-4061-950C-4AAABB31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384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$591.0M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C0D746-8421-4B2D-9CB8-C8E89B67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479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0BF008-8692-4B62-9474-5E6BE508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38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Arrange $641.0M financing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1B9E98-D1D5-4265-9A1C-9EA6B13F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47950"/>
            <a:ext cx="1600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D6770D-740B-4B37-82E9-1882157F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384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7A4B"/>
                </a:solidFill>
              </a:defRPr>
            </a:pPr>
            <a:r>
              <a:rPr sz="1200" b="1">
                <a:solidFill>
                  <a:srgbClr val="2A7A4B"/>
                </a:solidFill>
              </a:rPr>
              <a:t>RECOMMEND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A0BD16-4AE3-4C05-991B-17DF00B9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133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A363A1-939F-4597-8A45-7D55155F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0520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Guardrail failure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FDF882-7FC0-49F9-8E55-245FA315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14700"/>
            <a:ext cx="1257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FCA4DA-4137-4655-B98A-E9441317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052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$919.2M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230D32-644F-4846-A1B4-D1B9B9D3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4700"/>
            <a:ext cx="1257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FC6ADD-2C1C-4164-B23F-F375A954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052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$315.9M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849FB1-828C-4F04-87A7-9F04F4F4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14700"/>
            <a:ext cx="1257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EA3CE1-1503-4268-94B5-FC88C535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052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$0.0M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9A1FA5-9BFF-44DD-BEA9-8EE0D9F9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1470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A66BA3-985E-46E8-A605-134561DC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05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Withhold, request data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9BC364-8989-4840-A005-C80582A8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14700"/>
            <a:ext cx="1600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17C9A74-A245-40C3-AE2D-D4793C0E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052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12A21"/>
                </a:solidFill>
              </a:defRPr>
            </a:pPr>
            <a:r>
              <a:rPr sz="1200" b="1">
                <a:solidFill>
                  <a:srgbClr val="A12A21"/>
                </a:solidFill>
              </a:rPr>
              <a:t>REQUEST DATA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71F603-0EF2-4FF1-9AC0-39959569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2133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1DEAF5-824B-4994-A440-F7546097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Stress shock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810172D-15CA-4DF7-92F8-8CB82A05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81450"/>
            <a:ext cx="1257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C41DDC7-6E71-411E-9546-8FBCFFA2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719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$87.7M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C8D6626-2166-46D2-A1BA-2D739694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81450"/>
            <a:ext cx="1257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94B398-F4C1-4B37-9068-E787E8F4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719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$0.0M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ADA3BAD-2B76-4C36-979E-FCEE7C24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81450"/>
            <a:ext cx="1257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D11FD49-889D-4730-B11A-C9AE720D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719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$214.2M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9BD8BE-F2B7-4528-9B55-4D3CAE96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56581D6-E79A-48D6-889A-AFE6E6E2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7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Arrange $264.2M financing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D3EF7D1-772D-4AF7-9AC7-B8DFBAD1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81450"/>
            <a:ext cx="1600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9AAB957-0B2D-4B94-8D32-9D00BB9F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719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7A4B"/>
                </a:solidFill>
              </a:defRPr>
            </a:pPr>
            <a:r>
              <a:rPr sz="1200" b="1">
                <a:solidFill>
                  <a:srgbClr val="2A7A4B"/>
                </a:solidFill>
              </a:rPr>
              <a:t>RECOMMEND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81AE42C-D91F-4AA5-A7B4-67832A39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6170"/>
                </a:solidFill>
              </a:defRPr>
            </a:pPr>
            <a:r>
              <a:rPr sz="1575" b="0">
                <a:solidFill>
                  <a:srgbClr val="556170"/>
                </a:solidFill>
              </a:rPr>
              <a:t>Each scenario uses deterministic synthetic data with fixed seeds and records the recommendation, gate status, policy checks, and human decision path.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99237B0-00B1-48F9-84CF-2E8DA507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Synthetic / illustrative data only. Not actual Nike financial data.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85126F1-76BD-47BE-8B41-06AC247B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98413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188175-1FE0-46AD-820A-67C58238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170"/>
                </a:solidFill>
              </a:defRPr>
            </a:pPr>
            <a:r>
              <a:rPr sz="975" b="1">
                <a:solidFill>
                  <a:srgbClr val="556170"/>
                </a:solidFill>
              </a:rPr>
              <a:t>Agentic AI Treasury Advisor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831DB-0EB2-4AB9-BDC8-586DDB99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111F"/>
                </a:solidFill>
              </a:defRPr>
            </a:pPr>
            <a:r>
              <a:rPr sz="2625" b="1">
                <a:solidFill>
                  <a:srgbClr val="08111F"/>
                </a:solidFill>
              </a:rPr>
              <a:t>Request-time data flow: every handoff is structured and validated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17A9F-700B-4207-8EEB-934E7377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F83BB-0C7B-4754-A81E-566F9AC7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1600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0A51D-D21B-4C66-9B0F-A0263598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7E78"/>
                </a:solidFill>
              </a:defRPr>
            </a:pPr>
            <a:r>
              <a:rPr sz="2700" b="1">
                <a:solidFill>
                  <a:srgbClr val="007E7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43083-1737-446B-8478-F1824525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11F"/>
                </a:solidFill>
              </a:defRPr>
            </a:pPr>
            <a:r>
              <a:rPr sz="1500" b="1">
                <a:solidFill>
                  <a:srgbClr val="08111F"/>
                </a:solidFill>
              </a:rPr>
              <a:t>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A173E-0EAC-4D76-8DC2-86324EDF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170"/>
                </a:solidFill>
              </a:defRPr>
            </a:pPr>
            <a:r>
              <a:rPr sz="1050" b="0">
                <a:solidFill>
                  <a:srgbClr val="556170"/>
                </a:solidFill>
              </a:rPr>
              <a:t>Assess liquidity and surplus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71E38-74D8-43F8-A7E7-C7056EE8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95500"/>
            <a:ext cx="1600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2DE23-F652-4D6D-BFD3-19352D1C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050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7E78"/>
                </a:solidFill>
              </a:defRPr>
            </a:pPr>
            <a:r>
              <a:rPr sz="2700" b="1">
                <a:solidFill>
                  <a:srgbClr val="007E78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D7BED-E566-45D6-9DD1-8B78C956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956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11F"/>
                </a:solidFill>
              </a:defRPr>
            </a:pPr>
            <a:r>
              <a:rPr sz="1500" b="1">
                <a:solidFill>
                  <a:srgbClr val="08111F"/>
                </a:solidFill>
              </a:rPr>
              <a:t>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72C3F-16D6-4EB1-AB6D-91E9D38F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956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170"/>
                </a:solidFill>
              </a:defRPr>
            </a:pPr>
            <a:r>
              <a:rPr sz="1050" b="0">
                <a:solidFill>
                  <a:srgbClr val="556170"/>
                </a:solidFill>
              </a:rPr>
              <a:t>Corporate treasury 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B98D3-482F-4343-B088-21DD840B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1600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19D5A1-D0D7-42C8-A765-97F576B6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050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7E78"/>
                </a:solidFill>
              </a:defRPr>
            </a:pPr>
            <a:r>
              <a:rPr sz="2700" b="1">
                <a:solidFill>
                  <a:srgbClr val="007E78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31C444-FEA7-4306-9576-22B583C7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956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11F"/>
                </a:solidFill>
              </a:defRPr>
            </a:pPr>
            <a:r>
              <a:rPr sz="1500" b="1">
                <a:solidFill>
                  <a:srgbClr val="08111F"/>
                </a:solidFill>
              </a:rPr>
              <a:t>Run 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30582-E70D-4FB5-A753-7CC1C3A3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170"/>
                </a:solidFill>
              </a:defRPr>
            </a:pPr>
            <a:r>
              <a:rPr sz="1050" b="0">
                <a:solidFill>
                  <a:srgbClr val="556170"/>
                </a:solidFill>
              </a:rPr>
              <a:t>Quality, forecast, liquidity, stress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94088-4032-4EFF-A67D-B07D1D56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1600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7BE261-20F5-421B-8EC3-F6E43A0A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050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7E78"/>
                </a:solidFill>
              </a:defRPr>
            </a:pPr>
            <a:r>
              <a:rPr sz="2700" b="1">
                <a:solidFill>
                  <a:srgbClr val="007E78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CF4B92-EA17-4C30-AE25-3439E3F5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956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11F"/>
                </a:solidFill>
              </a:defRPr>
            </a:pPr>
            <a:r>
              <a:rPr sz="1500" b="1">
                <a:solidFill>
                  <a:srgbClr val="08111F"/>
                </a:solidFill>
              </a:rPr>
              <a:t>Retrieve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D59CF6-3B66-4708-AB18-CF776F93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956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170"/>
                </a:solidFill>
              </a:defRPr>
            </a:pPr>
            <a:r>
              <a:rPr sz="1050" b="0">
                <a:solidFill>
                  <a:srgbClr val="556170"/>
                </a:solidFill>
              </a:rPr>
              <a:t>Policy and strategy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40F208-2D3D-4AEA-9930-74ECF77E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95500"/>
            <a:ext cx="1600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1E315A-9796-4280-BC37-4265845D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050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A12A21"/>
                </a:solidFill>
              </a:defRPr>
            </a:pPr>
            <a:r>
              <a:rPr sz="2700" b="1">
                <a:solidFill>
                  <a:srgbClr val="A12A21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AC0668-B4A8-4E04-9F87-87EEA7BA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11F"/>
                </a:solidFill>
              </a:defRPr>
            </a:pPr>
            <a:r>
              <a:rPr sz="1500" b="1">
                <a:solidFill>
                  <a:srgbClr val="08111F"/>
                </a:solidFill>
              </a:rPr>
              <a:t>Enforce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8B2904-5B33-4E7D-A633-F031C7D2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956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170"/>
                </a:solidFill>
              </a:defRPr>
            </a:pPr>
            <a:r>
              <a:rPr sz="1050" b="0">
                <a:solidFill>
                  <a:srgbClr val="556170"/>
                </a:solidFill>
              </a:rPr>
              <a:t>Hard limits and confidence 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CCC88F-6C99-4701-AE5D-8BD47471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95500"/>
            <a:ext cx="1600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DC3CEA-EAC7-4E88-B6EC-AED53171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050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A7A4B"/>
                </a:solidFill>
              </a:defRPr>
            </a:pPr>
            <a:r>
              <a:rPr sz="2700" b="1">
                <a:solidFill>
                  <a:srgbClr val="2A7A4B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65C11C-91BA-46CA-AFB2-8D896DC2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956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11F"/>
                </a:solidFill>
              </a:defRPr>
            </a:pPr>
            <a:r>
              <a:rPr sz="1500" b="1">
                <a:solidFill>
                  <a:srgbClr val="08111F"/>
                </a:solidFill>
              </a:rPr>
              <a:t>Approve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EC498A-D467-48E4-8619-EE86BEED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2956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170"/>
                </a:solidFill>
              </a:defRPr>
            </a:pPr>
            <a:r>
              <a:rPr sz="1050" b="0">
                <a:solidFill>
                  <a:srgbClr val="556170"/>
                </a:solidFill>
              </a:rPr>
              <a:t>Modify, reject, or audit</a:t>
            </a:r>
          </a:p>
        </p:txBody>
      </p:sp>
      <p:cxnSp>
        <p:nvCxnSpPr>
          <p:cNvPr id="65" name=""/>
          <p:cNvCxnSpPr>
            <a:stCxn xmlns:a="http://schemas.openxmlformats.org/drawingml/2006/main" id="8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2152650" y="29432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56170"/>
            </a:solidFill>
            <a:prstDash val="solid"/>
            <a:headEnd type="arrow" w="sm" len="sm"/>
          </a:ln>
        </p:spPr>
      </p:cxnSp>
      <p:cxnSp>
        <p:nvCxnSpPr>
          <p:cNvPr id="66" name=""/>
          <p:cNvCxnSpPr>
            <a:stCxn xmlns:a="http://schemas.openxmlformats.org/drawingml/2006/main" id="12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4000500" y="29432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56170"/>
            </a:solidFill>
            <a:prstDash val="solid"/>
            <a:headEnd type="arrow" w="sm" len="sm"/>
          </a:ln>
        </p:spPr>
      </p:cxnSp>
      <p:cxnSp>
        <p:nvCxnSpPr>
          <p:cNvPr id="67" name=""/>
          <p:cNvCxnSpPr>
            <a:stCxn xmlns:a="http://schemas.openxmlformats.org/drawingml/2006/main" id="16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5848350" y="29432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56170"/>
            </a:solidFill>
            <a:prstDash val="solid"/>
            <a:headEnd type="arrow" w="sm" len="sm"/>
          </a:ln>
        </p:spPr>
      </p:cxnSp>
      <p:cxnSp>
        <p:nvCxnSpPr>
          <p:cNvPr id="68" name=""/>
          <p:cNvCxnSpPr>
            <a:stCxn xmlns:a="http://schemas.openxmlformats.org/drawingml/2006/main" id="20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7696200" y="29432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56170"/>
            </a:solidFill>
            <a:prstDash val="solid"/>
            <a:headEnd type="arrow" w="sm" len="sm"/>
          </a:ln>
        </p:spPr>
      </p:cxnSp>
      <p:cxnSp>
        <p:nvCxnSpPr>
          <p:cNvPr id="69" name=""/>
          <p:cNvCxnSpPr>
            <a:stCxn xmlns:a="http://schemas.openxmlformats.org/drawingml/2006/main" id="24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9544050" y="29432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56170"/>
            </a:solidFill>
            <a:prstDash val="solid"/>
            <a:headEnd type="arrow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E8C009-A290-4D7C-B246-5674B37D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304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B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35A97"/>
                </a:solidFill>
              </a:defRPr>
            </a:pPr>
            <a:r>
              <a:rPr sz="1200" b="1">
                <a:solidFill>
                  <a:srgbClr val="235A97"/>
                </a:solidFill>
              </a:rPr>
              <a:t>Structured result: metrics, assumptions, evidence, timestamps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AF9AAB-A559-403C-8067-5606C7AF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33900"/>
            <a:ext cx="304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7791F"/>
                </a:solidFill>
              </a:defRPr>
            </a:pPr>
            <a:r>
              <a:rPr sz="1200" b="1">
                <a:solidFill>
                  <a:srgbClr val="B7791F"/>
                </a:solidFill>
              </a:rPr>
              <a:t>Failure routes: request data, warn, withhold, or block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32771A-D31D-47DC-BA42-CB35FDC9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304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C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A7A4B"/>
                </a:solidFill>
              </a:defRPr>
            </a:pPr>
            <a:r>
              <a:rPr sz="1200" b="1">
                <a:solidFill>
                  <a:srgbClr val="2A7A4B"/>
                </a:solidFill>
              </a:rPr>
              <a:t>Audit record: inputs, tools, rules, recommendation, decision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883CB3-30F4-4A2B-BC43-48FDD732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Synthetic / illustrative data only. Not actual Nike financial data.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6DA245-5CDE-4674-8FCE-F287F018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892702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B88257-5F70-47CC-9A21-4F2412A8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170"/>
                </a:solidFill>
              </a:defRPr>
            </a:pPr>
            <a:r>
              <a:rPr sz="975" b="1">
                <a:solidFill>
                  <a:srgbClr val="556170"/>
                </a:solidFill>
              </a:rPr>
              <a:t>Agentic AI Treasury Advisor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804D5-7883-4447-B580-8B014A70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111F"/>
                </a:solidFill>
              </a:defRPr>
            </a:pPr>
            <a:r>
              <a:rPr sz="2625" b="1">
                <a:solidFill>
                  <a:srgbClr val="08111F"/>
                </a:solidFill>
              </a:rPr>
              <a:t>Guardrails are enforced in code, not left to model judgment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EAD48-3049-4666-BD97-027B9ED2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A6794-45F7-4242-ABD6-B84A6667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6170"/>
                </a:solidFill>
              </a:defRPr>
            </a:pPr>
            <a:r>
              <a:rPr sz="1725" b="0">
                <a:solidFill>
                  <a:srgbClr val="556170"/>
                </a:solidFill>
              </a:rPr>
              <a:t>The confidence gate can show, warn, request more data, withhold, or block. Hard policy failures override narrative confidence.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D224C-42ED-4C0F-BF02-3F57D193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25717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677EA-E1BC-41E4-A814-52D123D2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11F"/>
                </a:solidFill>
              </a:defRPr>
            </a:pPr>
            <a:r>
              <a:rPr sz="1650" b="1">
                <a:solidFill>
                  <a:srgbClr val="08111F"/>
                </a:solidFill>
              </a:rPr>
              <a:t>Input controls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9966D-4724-4F58-BFD3-1249B803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E035C-C891-49A8-AFED-E1BB4928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Treasury scope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4BD1A-7818-4678-97A9-B0423DFE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E55E01-94F7-433F-8561-E438B57E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Role/access placeholder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23FDD9-973F-4734-B992-DFABC19D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3D455E-C736-4D28-B178-F7B8D4A2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Freshness and completeness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6A5F15-4102-4B72-8AB8-6A0EAA2A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62200"/>
            <a:ext cx="25717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85FF1-6A1D-4206-817D-5175A9C3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09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12A21"/>
                </a:solidFill>
              </a:defRPr>
            </a:pPr>
            <a:r>
              <a:rPr sz="1650" b="1">
                <a:solidFill>
                  <a:srgbClr val="A12A21"/>
                </a:solidFill>
              </a:rPr>
              <a:t>Financial 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22D34-EC0F-426D-8481-40345440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00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2A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6553E4-4F30-474D-9E34-1F502919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2420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Minimum reserve protected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A48BB1-8805-4B54-B21A-0F598612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2A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00E688-FB4E-4427-9A31-6F7BEC0C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8140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Payroll and capex protected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56EBD6-E2AC-461C-9ECB-FA45D576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14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2A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23DFB4-671A-41D5-B372-2081384F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3860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Allowed instruments and maturity caps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FE27C1-5D82-4A46-8D93-7F145219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62200"/>
            <a:ext cx="25717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7B8CB9-1BBA-4F0F-ADDB-B394473D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09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11F"/>
                </a:solidFill>
              </a:defRPr>
            </a:pPr>
            <a:r>
              <a:rPr sz="1650" b="1">
                <a:solidFill>
                  <a:srgbClr val="08111F"/>
                </a:solidFill>
              </a:rPr>
              <a:t>Model 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A6F9CD-2687-4671-82BA-01BCA80E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8C5FFE-0E87-4D5D-892E-48FE904E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2420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No invented numbers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3D23D7-2A15-438E-9581-050DFF77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9A766D-DB9B-4FC5-9411-61E80EC9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Traceable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9366D3-92CF-4851-91AD-FE15D037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14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86BC50-3C8E-47A8-BB14-CD36F77C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3860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Confidence thresholding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2A5BA4-B3C9-4823-8DC8-99BFB9E0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62200"/>
            <a:ext cx="25717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AFE784-4B19-4C6A-9F04-4D29DAEE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09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11F"/>
                </a:solidFill>
              </a:defRPr>
            </a:pPr>
            <a:r>
              <a:rPr sz="1650" b="1">
                <a:solidFill>
                  <a:srgbClr val="08111F"/>
                </a:solidFill>
              </a:rPr>
              <a:t>Execution boundary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E28ACF-3B05-4096-AC09-EDE04078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00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0A9C34-577C-486C-8EB2-3B49AFDE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2420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Approval for high-impact actions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4CC6AF-D41F-42EF-86BC-59DFF650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59AA8C-9086-4325-85E7-DB13F4C3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58140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No autonomous money movement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EEC53D-C977-485C-BD87-307E0F6C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14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06C194-C7DB-43C9-B2DB-4C7EFB75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3860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Full audit trail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87EFE4-9A9E-46F1-A2C0-D92054BC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653E1B-F6E8-4DBD-AF03-B94D4028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43550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Human approval is mandatory for investment, borrowing, transfers, FX trades, debt changes, or payment delays.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916EC2-8C46-47AE-8655-0564C254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Synthetic / illustrative data only. Not actual Nike financial data.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847DCD-12E1-4831-B869-B7856EA7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699140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C7E593-2261-436A-85F8-226E85B0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170"/>
                </a:solidFill>
              </a:defRPr>
            </a:pPr>
            <a:r>
              <a:rPr sz="975" b="1">
                <a:solidFill>
                  <a:srgbClr val="556170"/>
                </a:solidFill>
              </a:rPr>
              <a:t>Agentic AI Treasury Advisor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03E73-E22B-4CAB-83C5-E8133C55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111F"/>
                </a:solidFill>
              </a:defRPr>
            </a:pPr>
            <a:r>
              <a:rPr sz="2625" b="1">
                <a:solidFill>
                  <a:srgbClr val="08111F"/>
                </a:solidFill>
              </a:rPr>
              <a:t>Positioning: bridge the gap between TMS, market terminals, and advisory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B9CBA-BB50-49AB-B634-1DB881CE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40B7D-0716-48C3-83CF-CC5B66C5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914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B73C6-AA67-49E1-B104-AA43BF6B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85925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Existing category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7CAEF-0FF1-44EC-B9DA-6CC8986C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62100"/>
            <a:ext cx="2971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C5CFA-1E9C-4057-92F5-67126F59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685925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What it does well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EF09E-0BD8-4B29-82A1-B66EC8F6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562100"/>
            <a:ext cx="4705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5D6A7-7AFD-4236-BE1A-8E2279A9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8592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Gap our agent targets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1E07F-E296-4846-82C9-897B897B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29146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B6764-4D60-4FDE-B6C4-28745093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11F"/>
                </a:solidFill>
              </a:defRPr>
            </a:pPr>
            <a:r>
              <a:rPr sz="1350" b="1">
                <a:solidFill>
                  <a:srgbClr val="08111F"/>
                </a:solidFill>
              </a:rPr>
              <a:t>Treasury management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FC76F-1623-4630-818A-9D1571B5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81200"/>
            <a:ext cx="2971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475FC1-BFAD-4B05-8618-96E9252E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5265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Cash visibility, payments, cash forecasting, risk management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0882E3-740A-400C-BCB6-AACADC6B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81200"/>
            <a:ext cx="4705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3FEC05-5951-423D-8FEB-7640F088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52650"/>
            <a:ext cx="443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7E78"/>
                </a:solidFill>
              </a:defRPr>
            </a:pPr>
            <a:r>
              <a:rPr sz="1200" b="0">
                <a:solidFill>
                  <a:srgbClr val="007E78"/>
                </a:solidFill>
              </a:rPr>
              <a:t>Often workflow-heavy; less natural-language explanation and rapid scenario storytelling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9B5954-CFFE-4C8F-B045-AD743C07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29146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DD858A-4605-4FFD-8083-45921409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11F"/>
                </a:solidFill>
              </a:defRPr>
            </a:pPr>
            <a:r>
              <a:rPr sz="1350" b="1">
                <a:solidFill>
                  <a:srgbClr val="08111F"/>
                </a:solidFill>
              </a:rPr>
              <a:t>Market data terminals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8E1B99-6188-4952-96C1-82087DEE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95600"/>
            <a:ext cx="2971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4E8B5B-61F2-4845-9792-89A2BE8E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6705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Real-time data, news, analytics, institutional research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C83446-3CB6-435E-897A-CBD48D15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95600"/>
            <a:ext cx="4705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57D9D1-4FA9-48D0-9320-17C345E5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67050"/>
            <a:ext cx="443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7E78"/>
                </a:solidFill>
              </a:defRPr>
            </a:pPr>
            <a:r>
              <a:rPr sz="1200" b="0">
                <a:solidFill>
                  <a:srgbClr val="007E78"/>
                </a:solidFill>
              </a:rPr>
              <a:t>Not connected to the company-specific cash position and policy gate by default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2B9FD6-0DFB-43B6-95C2-CB0521FC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29146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EA43CC-86A0-46B4-BE05-07E0D10A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11F"/>
                </a:solidFill>
              </a:defRPr>
            </a:pPr>
            <a:r>
              <a:rPr sz="1350" b="1">
                <a:solidFill>
                  <a:srgbClr val="08111F"/>
                </a:solidFill>
              </a:rPr>
              <a:t>Spreadsheet models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862894-A20D-49C0-8ACA-2CF3C1DA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10000"/>
            <a:ext cx="2971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150F67-18B2-44AE-9AC1-0AE15D0A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8145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Flexible, familiar, cheap to start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805734-1320-41FB-8CBD-00B1E75E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10000"/>
            <a:ext cx="4705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4F23D9-E802-4701-B0C9-92686763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81450"/>
            <a:ext cx="443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7E78"/>
                </a:solidFill>
              </a:defRPr>
            </a:pPr>
            <a:r>
              <a:rPr sz="1200" b="0">
                <a:solidFill>
                  <a:srgbClr val="007E78"/>
                </a:solidFill>
              </a:rPr>
              <a:t>Manual refresh, weak audit trail, slower stress testing and guardrail enforcement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E81ED2-C873-4E50-B28E-C67C0D7A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0579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6170"/>
                </a:solidFill>
              </a:defRPr>
            </a:pPr>
            <a:r>
              <a:rPr sz="750" b="0">
                <a:solidFill>
                  <a:srgbClr val="556170"/>
                </a:solidFill>
              </a:rPr>
              <a:t>Market references: SAP S/4HANA Treasury &amp; Risk Management; Bloomberg Terminal overview; public TMS category descriptions.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37EDC7-3EAF-422B-860F-44441896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Synthetic / illustrative data only. Not actual Nike financial data.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0EFCB0-7595-4EC5-9D16-93211E7C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293126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8DB65F-64C7-46E7-A21F-A1E06363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170"/>
                </a:solidFill>
              </a:defRPr>
            </a:pPr>
            <a:r>
              <a:rPr sz="975" b="1">
                <a:solidFill>
                  <a:srgbClr val="556170"/>
                </a:solidFill>
              </a:rPr>
              <a:t>Agentic AI Treasury Advisor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24D8F-C79E-4B58-A34C-C8FAAB2B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111F"/>
                </a:solidFill>
              </a:defRPr>
            </a:pPr>
            <a:r>
              <a:rPr sz="2625" b="1">
                <a:solidFill>
                  <a:srgbClr val="08111F"/>
                </a:solidFill>
              </a:rPr>
              <a:t>Pilot value: measurable liquidity, productivity, and control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336D6-A515-4821-8974-B17C84AF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82F3A-B723-4B15-A548-EB5B41C6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1907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86E30-5692-4AD4-B9FA-EC7469E6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7E78"/>
                </a:solidFill>
              </a:defRPr>
            </a:pPr>
            <a:r>
              <a:rPr sz="3000" b="1">
                <a:solidFill>
                  <a:srgbClr val="007E78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A4E80-0CEC-4FEA-A177-E0DCA3A5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6-month pilot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AD831-E590-4875-96CD-238A1C72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Treasury scenarios live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2BDD1-F979-4B36-BE56-F1235515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62100"/>
            <a:ext cx="21907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F9C9D-F913-4BF2-BFA2-66C22049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526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8111F"/>
                </a:solidFill>
              </a:defRPr>
            </a:pPr>
            <a:r>
              <a:rPr sz="3000" b="1">
                <a:solidFill>
                  <a:srgbClr val="08111F"/>
                </a:solidFill>
              </a:rPr>
              <a:t>90d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408F3-348B-4684-8624-10D070C8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669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Forecast horizon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D7294-59FA-4337-8EB1-2F5CFFCE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3365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Daily or scheduled 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A79B1-852F-41EB-8C1E-3A6987A7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562100"/>
            <a:ext cx="21907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D147A1-6A66-4B3E-B1DF-F1D31646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526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A7A4B"/>
                </a:solidFill>
              </a:defRPr>
            </a:pPr>
            <a:r>
              <a:rPr sz="3000" b="1">
                <a:solidFill>
                  <a:srgbClr val="2A7A4B"/>
                </a:solidFill>
              </a:rPr>
              <a:t>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7A526F-C603-4FF9-B02B-5657353E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669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Approval boundary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8E3C0-F489-4CB6-BD4A-2D384D9F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3365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High-impact actions gated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CDE99A-856B-479E-932B-31BABFFB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62100"/>
            <a:ext cx="21907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B9D99C-56AE-4788-8BD5-0FE4B862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526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35A97"/>
                </a:solidFill>
              </a:defRPr>
            </a:pPr>
            <a:r>
              <a:rPr sz="3000" b="1">
                <a:solidFill>
                  <a:srgbClr val="235A97"/>
                </a:solidFill>
              </a:rPr>
              <a:t>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A9A5E-E632-47A4-97C8-F2020698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Audit coverage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238B73-63E8-4FA8-8E80-B375E21C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3365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Runs and decisions logged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E88B2A-EDE7-41B9-82B1-EBE778CC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111F"/>
                </a:solidFill>
              </a:defRPr>
            </a:pPr>
            <a:r>
              <a:rPr sz="2100" b="1">
                <a:solidFill>
                  <a:srgbClr val="08111F"/>
                </a:solidFill>
              </a:rPr>
              <a:t>Bank value proposition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858E52-2F05-4953-8EB9-D13BD1B1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943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D87747-E396-4A01-A490-2AAA95D7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111F"/>
                </a:solidFill>
              </a:defRPr>
            </a:pPr>
            <a:r>
              <a:rPr sz="1350" b="0">
                <a:solidFill>
                  <a:srgbClr val="08111F"/>
                </a:solidFill>
              </a:rPr>
              <a:t>Premium corporate treasury advisory tier for relationship managers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6E563E-5EB9-49BE-A5D6-6D7B150D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38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0454C1-AEE9-4B39-A03C-4FD43A71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111F"/>
                </a:solidFill>
              </a:defRPr>
            </a:pPr>
            <a:r>
              <a:rPr sz="1350" b="0">
                <a:solidFill>
                  <a:srgbClr val="08111F"/>
                </a:solidFill>
              </a:rPr>
              <a:t>Lower emergency financing risk through earlier shortfall detection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7C4548-9419-4336-A05D-79CAD193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933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0B0AC9-FB8A-439B-A967-C652B4E5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111F"/>
                </a:solidFill>
              </a:defRPr>
            </a:pPr>
            <a:r>
              <a:rPr sz="1350" b="0">
                <a:solidFill>
                  <a:srgbClr val="08111F"/>
                </a:solidFill>
              </a:rPr>
              <a:t>Higher advisor productivity from automated evidence assembly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7FFB61-732E-46CD-8CAD-2B23179B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111F"/>
                </a:solidFill>
              </a:defRPr>
            </a:pPr>
            <a:r>
              <a:rPr sz="2100" b="1">
                <a:solidFill>
                  <a:srgbClr val="08111F"/>
                </a:solidFill>
              </a:rPr>
              <a:t>Pilot success criteria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7B2373-4734-4328-AC7F-D9A930D9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43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D0274E-449D-423F-81C9-FCEC1376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67150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111F"/>
                </a:solidFill>
              </a:defRPr>
            </a:pPr>
            <a:r>
              <a:rPr sz="1350" b="0">
                <a:solidFill>
                  <a:srgbClr val="08111F"/>
                </a:solidFill>
              </a:rPr>
              <a:t>Daily forecast refresh with freshness and completeness scoring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2DB576-B86E-420E-84B3-7E8D9D14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38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F9B61A-E32C-464E-87AF-A2C49DD5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62450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111F"/>
                </a:solidFill>
              </a:defRPr>
            </a:pPr>
            <a:r>
              <a:rPr sz="1350" b="0">
                <a:solidFill>
                  <a:srgbClr val="08111F"/>
                </a:solidFill>
              </a:rPr>
              <a:t>Every recommendation includes evidence, assumptions, risks, and policy results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0DAFFF-91DE-49B5-B2B9-C58F3935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33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419E28-BD1C-412C-B83A-CE3B3400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57750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111F"/>
                </a:solidFill>
              </a:defRPr>
            </a:pPr>
            <a:r>
              <a:rPr sz="1350" b="0">
                <a:solidFill>
                  <a:srgbClr val="08111F"/>
                </a:solidFill>
              </a:rPr>
              <a:t>Human approval decision captured before any execution outside the POC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3D113C-6D63-47E6-8587-F452AA6E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Synthetic / illustrative data only. Not actual Nike financial data.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44BED1-B7E5-4CE5-88A3-3C4C74B1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195169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661537-D8BB-453F-905C-72A8008E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170"/>
                </a:solidFill>
              </a:defRPr>
            </a:pPr>
            <a:r>
              <a:rPr sz="975" b="1">
                <a:solidFill>
                  <a:srgbClr val="556170"/>
                </a:solidFill>
              </a:rPr>
              <a:t>Agentic AI Treasury Advisor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27B76-BDA1-40C7-8996-6F82781C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111F"/>
                </a:solidFill>
              </a:defRPr>
            </a:pPr>
            <a:r>
              <a:rPr sz="2625" b="1">
                <a:solidFill>
                  <a:srgbClr val="08111F"/>
                </a:solidFill>
              </a:rPr>
              <a:t>Risks are explicit design inputs, not appendix caveats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89527-6FE2-4A2E-83F3-80186C6E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30536-2E1C-436E-9075-F93D988D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111F"/>
                </a:solidFill>
              </a:defRPr>
            </a:pPr>
            <a:r>
              <a:rPr sz="1725" b="1">
                <a:solidFill>
                  <a:srgbClr val="08111F"/>
                </a:solidFill>
              </a:rPr>
              <a:t>Data quality 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36134-98F7-4C44-9900-EF4A5651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504950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4FE33-85DC-4817-906B-8F390FC2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57350"/>
            <a:ext cx="3181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12A21"/>
                </a:solidFill>
              </a:defRPr>
            </a:pPr>
            <a:r>
              <a:rPr sz="1200" b="1">
                <a:solidFill>
                  <a:srgbClr val="A12A21"/>
                </a:solidFill>
              </a:rPr>
              <a:t>Stale or missing AR/AP, payroll, market feeds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4E04F-F180-4B53-9487-D43517D7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04950"/>
            <a:ext cx="4324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FE853-6388-4328-8E2E-8E969065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57350"/>
            <a:ext cx="396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7A4B"/>
                </a:solidFill>
              </a:defRPr>
            </a:pPr>
            <a:r>
              <a:rPr sz="1200" b="1">
                <a:solidFill>
                  <a:srgbClr val="2A7A4B"/>
                </a:solidFill>
              </a:rPr>
              <a:t>Freshness checks, completeness score, request-data 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3109E-F737-408A-B46C-A0972CAC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111F"/>
                </a:solidFill>
              </a:defRPr>
            </a:pPr>
            <a:r>
              <a:rPr sz="1725" b="1">
                <a:solidFill>
                  <a:srgbClr val="08111F"/>
                </a:solidFill>
              </a:rPr>
              <a:t>Model 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B3DDF-D157-4CE6-8A7B-8474A3EC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19350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4C8EF-9039-4957-9722-5F4BCCC5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71750"/>
            <a:ext cx="3181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12A21"/>
                </a:solidFill>
              </a:defRPr>
            </a:pPr>
            <a:r>
              <a:rPr sz="1200" b="1">
                <a:solidFill>
                  <a:srgbClr val="A12A21"/>
                </a:solidFill>
              </a:rPr>
              <a:t>Overconfident forecasts or stress-test assumptions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28962-B560-455B-BC1C-A82F024D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324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71A852-09FB-4A57-BDF7-3B72C61B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396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7A4B"/>
                </a:solidFill>
              </a:defRPr>
            </a:pPr>
            <a:r>
              <a:rPr sz="1200" b="1">
                <a:solidFill>
                  <a:srgbClr val="2A7A4B"/>
                </a:solidFill>
              </a:rPr>
              <a:t>Baseline model transparency, confidence scoring, human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37A6C1-3FB7-48B9-A912-33E488C4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111F"/>
                </a:solidFill>
              </a:defRPr>
            </a:pPr>
            <a:r>
              <a:rPr sz="1725" b="1">
                <a:solidFill>
                  <a:srgbClr val="08111F"/>
                </a:solidFill>
              </a:rPr>
              <a:t>Operational risk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0326CC-58F5-48DB-A384-8C3D5C9A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33750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2A924-25D4-47FB-A6B5-CC8B14CA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86150"/>
            <a:ext cx="3181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12A21"/>
                </a:solidFill>
              </a:defRPr>
            </a:pPr>
            <a:r>
              <a:rPr sz="1200" b="1">
                <a:solidFill>
                  <a:srgbClr val="A12A21"/>
                </a:solidFill>
              </a:rPr>
              <a:t>LLM fabricates numbers or recommends unsupported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61AD14-8B88-4175-9E5A-959333F4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33750"/>
            <a:ext cx="4324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74332C-1265-483F-ABAD-303F3C67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396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7A4B"/>
                </a:solidFill>
              </a:defRPr>
            </a:pPr>
            <a:r>
              <a:rPr sz="1200" b="1">
                <a:solidFill>
                  <a:srgbClr val="2A7A4B"/>
                </a:solidFill>
              </a:rPr>
              <a:t>No invented numbers, structured tool outputs, grounding checks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3BDE26-91CE-4253-9D1D-14F573FC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111F"/>
                </a:solidFill>
              </a:defRPr>
            </a:pPr>
            <a:r>
              <a:rPr sz="1725" b="1">
                <a:solidFill>
                  <a:srgbClr val="08111F"/>
                </a:solidFill>
              </a:rPr>
              <a:t>Regulatory 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AFB89C-56B2-4C6A-8E60-013A4586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48150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CFEB13-5BC6-4C70-B247-E3F64DCC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00550"/>
            <a:ext cx="3181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12A21"/>
                </a:solidFill>
              </a:defRPr>
            </a:pPr>
            <a:r>
              <a:rPr sz="1200" b="1">
                <a:solidFill>
                  <a:srgbClr val="A12A21"/>
                </a:solidFill>
              </a:rPr>
              <a:t>Advice crosses approval or suitability boundary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F3852C-B00E-469E-B6A1-FC458094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48150"/>
            <a:ext cx="4324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D2C4B0-3664-460C-8ADD-55B4BDCC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396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7A4B"/>
                </a:solidFill>
              </a:defRPr>
            </a:pPr>
            <a:r>
              <a:rPr sz="1200" b="1">
                <a:solidFill>
                  <a:srgbClr val="2A7A4B"/>
                </a:solidFill>
              </a:rPr>
              <a:t>Policy-as-code, role/access placeholder, audit trail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7E2CD6-CE17-4CBA-9561-A08AE24E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56170"/>
                </a:solidFill>
              </a:defRPr>
            </a:pPr>
            <a:r>
              <a:rPr sz="1575" b="1">
                <a:solidFill>
                  <a:srgbClr val="556170"/>
                </a:solidFill>
              </a:rPr>
              <a:t>Q&amp;A stance: the prototype demonstrates decision behavior, not real-world forecast accuracy, production security, or financial execution.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565E8E-3BB6-4757-905D-CC17355D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Synthetic / illustrative data only. Not actual Nike financial data.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A1844A-8446-449D-8840-42D59154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319759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DBA636-9DCA-41DD-A0B1-25555FBA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170"/>
                </a:solidFill>
              </a:defRPr>
            </a:pPr>
            <a:r>
              <a:rPr sz="975" b="1">
                <a:solidFill>
                  <a:srgbClr val="556170"/>
                </a:solidFill>
              </a:rPr>
              <a:t>Agentic AI Treasury Advisor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B043D-5DA4-4E14-B0B1-AE059647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111F"/>
                </a:solidFill>
              </a:defRPr>
            </a:pPr>
            <a:r>
              <a:rPr sz="2625" b="1">
                <a:solidFill>
                  <a:srgbClr val="08111F"/>
                </a:solidFill>
              </a:rPr>
              <a:t>Closing claim: agentic AI is useful when the control plane is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D5CC8-687D-4321-AB7D-124E0F62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5302F-97EA-4451-B422-9FD79698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9715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111F"/>
                </a:solidFill>
              </a:defRPr>
            </a:pPr>
            <a:r>
              <a:rPr sz="2850" b="1">
                <a:solidFill>
                  <a:srgbClr val="08111F"/>
                </a:solidFill>
              </a:rPr>
              <a:t>This POC shows an end-to-end treasury advisor that can explain the why, prove the math, respect hard rules, and stop before execution.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D8397-2B92-46C6-9816-41DCA99D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342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7E78"/>
                </a:solidFill>
              </a:defRPr>
            </a:pPr>
            <a:r>
              <a:rPr sz="1875" b="1">
                <a:solidFill>
                  <a:srgbClr val="007E78"/>
                </a:solidFill>
              </a:rPr>
              <a:t>Reason over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82BFC-A695-448A-97F7-2C8C7540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43250"/>
            <a:ext cx="342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111F"/>
                </a:solidFill>
              </a:defRPr>
            </a:pPr>
            <a:r>
              <a:rPr sz="1875" b="1">
                <a:solidFill>
                  <a:srgbClr val="08111F"/>
                </a:solidFill>
              </a:rPr>
              <a:t>Validate with tools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037D8-88B4-4808-BD42-2B5EFB6D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432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7791F"/>
                </a:solidFill>
              </a:defRPr>
            </a:pPr>
            <a:r>
              <a:rPr sz="1875" b="1">
                <a:solidFill>
                  <a:srgbClr val="B7791F"/>
                </a:solidFill>
              </a:rPr>
              <a:t>Escalate to humans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0F979-4772-4A0D-B8A9-42398C38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6170"/>
                </a:solidFill>
              </a:defRPr>
            </a:pPr>
            <a:r>
              <a:rPr sz="1800" b="0">
                <a:solidFill>
                  <a:srgbClr val="556170"/>
                </a:solidFill>
              </a:rPr>
              <a:t>Demo path: choose scenario -&gt; inspect forecast -&gt; review recommendation -&gt; approve/reject -&gt; audit log.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BBB73-555C-47FA-9C06-4670D6DA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Synthetic / illustrative data only. Not actual Nike financial 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3EFCA-80BD-4EAD-8CE6-1B991A2B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170"/>
                </a:solidFill>
              </a:defRPr>
            </a:pPr>
            <a:r>
              <a:rPr sz="900" b="0">
                <a:solidFill>
                  <a:srgbClr val="55617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110872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2026-06-28T08:29:46.0310000Z</dcterms:created>
  <dcterms:modified xsi:type="dcterms:W3CDTF">2026-06-28T08:29:46.0310000Z</dcterms:modified>
</coreProperties>
</file>